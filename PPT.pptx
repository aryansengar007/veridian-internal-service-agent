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J224lGW6l_4Y5_zasfxV7_5gEhKKd8z6/view?usp=sharing" TargetMode="External"/><Relationship Id="rId2" Type="http://schemas.openxmlformats.org/officeDocument/2006/relationships/hyperlink" Target="https://github.com/aryansengar007/veridian-internal-service-agen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8046720" y="365760"/>
            <a:ext cx="0" cy="576072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394192" y="365760"/>
            <a:ext cx="0" cy="576072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741664" y="365760"/>
            <a:ext cx="0" cy="576072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89136" y="365760"/>
            <a:ext cx="0" cy="576072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36608" y="365760"/>
            <a:ext cx="0" cy="576072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0" y="365760"/>
            <a:ext cx="0" cy="576072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131552" y="365760"/>
            <a:ext cx="0" cy="576072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479024" y="365760"/>
            <a:ext cx="0" cy="576072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826496" y="365760"/>
            <a:ext cx="0" cy="576072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548640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950976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46720" y="1353312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46720" y="1755648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2157984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46720" y="2560320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46720" y="2962656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46720" y="3364992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46720" y="3767328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46720" y="4169663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46720" y="4572000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46720" y="4974336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46720" y="5376672"/>
            <a:ext cx="3657600" cy="0"/>
          </a:xfrm>
          <a:prstGeom prst="line">
            <a:avLst/>
          </a:prstGeom>
          <a:ln w="7620">
            <a:solidFill>
              <a:srgbClr val="29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7772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859536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300" b="1" i="0">
                <a:solidFill>
                  <a:srgbClr val="192743"/>
                </a:solidFill>
                <a:latin typeface="Aptos Display"/>
              </a:rPr>
              <a:t>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822960"/>
            <a:ext cx="2743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 Display"/>
              </a:rPr>
              <a:t>VERIDIAN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1078992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A4B5CF"/>
                </a:solidFill>
                <a:latin typeface="Aptos"/>
              </a:rPr>
              <a:t>INTERNAL SERVICE DESK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1874519"/>
            <a:ext cx="640080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A policy-grounded
internal IT support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3401568"/>
            <a:ext cx="566928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B8C5DA"/>
                </a:solidFill>
                <a:latin typeface="Aptos"/>
              </a:rPr>
              <a:t>Assignment 2  /  Prototype presentation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4251960"/>
            <a:ext cx="1234440" cy="292608"/>
          </a:xfrm>
          <a:prstGeom prst="roundRect">
            <a:avLst>
              <a:gd name="adj" fmla="val 8000"/>
            </a:avLst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4" y="4293108"/>
            <a:ext cx="12344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TRIAGE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29968" y="4251960"/>
            <a:ext cx="1417320" cy="292608"/>
          </a:xfrm>
          <a:prstGeom prst="roundRect">
            <a:avLst>
              <a:gd name="adj" fmla="val 8000"/>
            </a:avLst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29968" y="4293108"/>
            <a:ext cx="1417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92743"/>
                </a:solidFill>
                <a:latin typeface="Aptos"/>
              </a:rPr>
              <a:t>RESOLVE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47872" y="4251960"/>
            <a:ext cx="1417320" cy="292608"/>
          </a:xfrm>
          <a:prstGeom prst="roundRect">
            <a:avLst>
              <a:gd name="adj" fmla="val 8000"/>
            </a:avLst>
          </a:prstGeom>
          <a:solidFill>
            <a:srgbClr val="C34C4C"/>
          </a:solidFill>
          <a:ln>
            <a:solidFill>
              <a:srgbClr val="C3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47872" y="4293108"/>
            <a:ext cx="1417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ESCALATE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65776" y="4251960"/>
            <a:ext cx="1097280" cy="292608"/>
          </a:xfrm>
          <a:prstGeom prst="roundRect">
            <a:avLst>
              <a:gd name="adj" fmla="val 8000"/>
            </a:avLst>
          </a:prstGeom>
          <a:solidFill>
            <a:srgbClr val="3874C7"/>
          </a:solidFill>
          <a:ln>
            <a:solidFill>
              <a:srgbClr val="38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65776" y="4293108"/>
            <a:ext cx="10972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" y="5870448"/>
            <a:ext cx="548640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100" b="0" i="0" dirty="0">
                <a:solidFill>
                  <a:srgbClr val="A4B5CF"/>
                </a:solidFill>
                <a:latin typeface="Aptos"/>
              </a:rPr>
              <a:t>Aryan Sengar</a:t>
            </a:r>
            <a:r>
              <a:rPr lang="en-IN" sz="1100" dirty="0">
                <a:solidFill>
                  <a:srgbClr val="A4B5CF"/>
                </a:solidFill>
                <a:latin typeface="Aptos"/>
              </a:rPr>
              <a:t>  ·  23CSU055  · </a:t>
            </a:r>
            <a:r>
              <a:rPr sz="1100" b="0" i="0" dirty="0">
                <a:solidFill>
                  <a:srgbClr val="A4B5CF"/>
                </a:solidFill>
                <a:latin typeface="Aptos"/>
              </a:rPr>
              <a:t> Veridian Corp  ·  September 2026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58200" y="1170432"/>
            <a:ext cx="2542032" cy="443484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42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78240" y="1481328"/>
            <a:ext cx="19202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9DB1CC"/>
                </a:solidFill>
                <a:latin typeface="Aptos"/>
              </a:rPr>
              <a:t>AGENT PULSE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9952" y="1847088"/>
            <a:ext cx="1097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1975104"/>
            <a:ext cx="822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9DB1CC"/>
                </a:solidFill>
                <a:latin typeface="Aptos"/>
              </a:rPr>
              <a:t>quality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778240" y="2578608"/>
            <a:ext cx="1901952" cy="0"/>
          </a:xfrm>
          <a:prstGeom prst="line">
            <a:avLst/>
          </a:prstGeom>
          <a:ln w="10160">
            <a:solidFill>
              <a:srgbClr val="425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796528" y="2944368"/>
            <a:ext cx="91440" cy="91440"/>
          </a:xfrm>
          <a:prstGeom prst="roundRect">
            <a:avLst>
              <a:gd name="adj" fmla="val 8000"/>
            </a:avLst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15984" y="2907792"/>
            <a:ext cx="13716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9D4E5"/>
                </a:solidFill>
                <a:latin typeface="Aptos"/>
              </a:rPr>
              <a:t>Direct resolution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90779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96528" y="3493008"/>
            <a:ext cx="91440" cy="91440"/>
          </a:xfrm>
          <a:prstGeom prst="roundRect">
            <a:avLst>
              <a:gd name="adj" fmla="val 8000"/>
            </a:avLst>
          </a:prstGeom>
          <a:solidFill>
            <a:srgbClr val="C34C4C"/>
          </a:solidFill>
          <a:ln>
            <a:solidFill>
              <a:srgbClr val="C3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15984" y="3456432"/>
            <a:ext cx="13716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9D4E5"/>
                </a:solidFill>
                <a:latin typeface="Aptos"/>
              </a:rPr>
              <a:t>Human 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78440" y="345643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96528" y="4041648"/>
            <a:ext cx="91440" cy="91440"/>
          </a:xfrm>
          <a:prstGeom prst="roundRect">
            <a:avLst>
              <a:gd name="adj" fmla="val 8000"/>
            </a:avLst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15984" y="4005072"/>
            <a:ext cx="13716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9D4E5"/>
                </a:solidFill>
                <a:latin typeface="Aptos"/>
              </a:rPr>
              <a:t>Sources verified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78440" y="4005072"/>
            <a:ext cx="411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4846320"/>
            <a:ext cx="18288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Every answer
has a source.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5358384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0B8F83"/>
                </a:solidFill>
                <a:latin typeface="Aptos"/>
              </a:rPr>
              <a:t>Grounded mode enabled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21792" y="6528816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VERIDIAN SERVICE DESK  /  ASSIGNMENT 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48C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01  /  WHY THIS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92743"/>
                </a:solidFill>
                <a:latin typeface="Aptos Display"/>
              </a:rPr>
              <a:t>The support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48C"/>
                </a:solidFill>
                <a:latin typeface="Aptos"/>
              </a:rPr>
              <a:t>Routine IT questions are simple to answer, but expensive to repeat and risky to handle inconsistently.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55648"/>
            <a:ext cx="52120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92743"/>
                </a:solidFill>
                <a:latin typeface="Aptos Display"/>
              </a:rPr>
              <a:t>Employees need help with...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15184"/>
            <a:ext cx="91440" cy="91440"/>
          </a:xfrm>
          <a:prstGeom prst="ellipse">
            <a:avLst/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297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E2B41"/>
                </a:solidFill>
                <a:latin typeface="Aptos"/>
              </a:rPr>
              <a:t>Password and account access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72384"/>
            <a:ext cx="91440" cy="91440"/>
          </a:xfrm>
          <a:prstGeom prst="ellipse">
            <a:avLst/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999232"/>
            <a:ext cx="4297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E2B41"/>
                </a:solidFill>
                <a:latin typeface="Aptos"/>
              </a:rPr>
              <a:t>VPN and network connectivity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29584"/>
            <a:ext cx="91440" cy="91440"/>
          </a:xfrm>
          <a:prstGeom prst="ellipse">
            <a:avLst/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456432"/>
            <a:ext cx="4297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E2B41"/>
                </a:solidFill>
                <a:latin typeface="Aptos"/>
              </a:rPr>
              <a:t>Laptops, printers, and equipment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86783"/>
            <a:ext cx="91440" cy="91440"/>
          </a:xfrm>
          <a:prstGeom prst="ellipse">
            <a:avLst/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913631"/>
            <a:ext cx="4297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E2B41"/>
                </a:solidFill>
                <a:latin typeface="Aptos"/>
              </a:rPr>
              <a:t>Software, mailbox, and guest access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443983"/>
            <a:ext cx="91440" cy="91440"/>
          </a:xfrm>
          <a:prstGeom prst="ellipse">
            <a:avLst/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370831"/>
            <a:ext cx="4297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E2B41"/>
                </a:solidFill>
                <a:latin typeface="Aptos"/>
              </a:rPr>
              <a:t>Security incidents and unclear requests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" y="5257800"/>
            <a:ext cx="1920240" cy="292608"/>
          </a:xfrm>
          <a:prstGeom prst="roundRect">
            <a:avLst>
              <a:gd name="adj" fmla="val 8000"/>
            </a:avLst>
          </a:prstGeom>
          <a:solidFill>
            <a:srgbClr val="EBF2FD"/>
          </a:solidFill>
          <a:ln>
            <a:solidFill>
              <a:srgbClr val="EB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" y="5298948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3874C7"/>
                </a:solidFill>
                <a:latin typeface="Aptos"/>
              </a:rPr>
              <a:t>15 REQUESTS IN SCOPE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1755648"/>
            <a:ext cx="5413248" cy="4160520"/>
          </a:xfrm>
          <a:prstGeom prst="roundRect">
            <a:avLst>
              <a:gd name="adj" fmla="val 8000"/>
            </a:avLst>
          </a:prstGeom>
          <a:solidFill>
            <a:srgbClr val="192743"/>
          </a:solidFill>
          <a:ln>
            <a:solidFill>
              <a:srgbClr val="19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8" y="2011680"/>
            <a:ext cx="4389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 Display"/>
              </a:rPr>
              <a:t>What goes wrong without grounding?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3952" y="2578608"/>
            <a:ext cx="91440" cy="384048"/>
          </a:xfrm>
          <a:prstGeom prst="roundRect">
            <a:avLst>
              <a:gd name="adj" fmla="val 8000"/>
            </a:avLst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20840" y="2578608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98515"/>
                </a:solidFill>
                <a:latin typeface="Aptos"/>
              </a:rPr>
              <a:t>REPETITION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2578608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FD9E8"/>
                </a:solidFill>
                <a:latin typeface="Aptos"/>
              </a:rPr>
              <a:t>IT time is consumed by the same questions.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73952" y="3291839"/>
            <a:ext cx="91440" cy="384048"/>
          </a:xfrm>
          <a:prstGeom prst="roundRect">
            <a:avLst>
              <a:gd name="adj" fmla="val 8000"/>
            </a:avLst>
          </a:prstGeom>
          <a:solidFill>
            <a:srgbClr val="C34C4C"/>
          </a:solidFill>
          <a:ln>
            <a:solidFill>
              <a:srgbClr val="C3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3291839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34C4C"/>
                </a:solidFill>
                <a:latin typeface="Aptos"/>
              </a:rPr>
              <a:t>INCONSISTENCY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291839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FD9E8"/>
                </a:solidFill>
                <a:latin typeface="Aptos"/>
              </a:rPr>
              <a:t>Employees may receive different guidance.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3952" y="4005072"/>
            <a:ext cx="91440" cy="384048"/>
          </a:xfrm>
          <a:prstGeom prst="roundRect">
            <a:avLst>
              <a:gd name="adj" fmla="val 8000"/>
            </a:avLst>
          </a:prstGeom>
          <a:solidFill>
            <a:srgbClr val="C34C4C"/>
          </a:solidFill>
          <a:ln>
            <a:solidFill>
              <a:srgbClr val="C3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20840" y="4005072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34C4C"/>
                </a:solidFill>
                <a:latin typeface="Aptos"/>
              </a:rPr>
              <a:t>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4005072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FD9E8"/>
                </a:solidFill>
                <a:latin typeface="Aptos"/>
              </a:rPr>
              <a:t>Access and security issues need human judgment.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4718304"/>
            <a:ext cx="91440" cy="384048"/>
          </a:xfrm>
          <a:prstGeom prst="roundRect">
            <a:avLst>
              <a:gd name="adj" fmla="val 8000"/>
            </a:avLst>
          </a:prstGeom>
          <a:solidFill>
            <a:srgbClr val="3874C7"/>
          </a:solidFill>
          <a:ln>
            <a:solidFill>
              <a:srgbClr val="38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4718304"/>
            <a:ext cx="12344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874C7"/>
                </a:solidFill>
                <a:latin typeface="Aptos"/>
              </a:rPr>
              <a:t>NO 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4718304"/>
            <a:ext cx="30632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CFD9E8"/>
                </a:solidFill>
                <a:latin typeface="Aptos"/>
              </a:rPr>
              <a:t>Decisions are difficult to review later.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440680"/>
            <a:ext cx="4572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Goal: make the next action clear, defensible, and auditable.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1792" y="6528816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VERIDIAN SERVICE DESK  /  ASSIGNMENT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48C"/>
                </a:solidFill>
                <a:latin typeface="Apto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02  /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92743"/>
                </a:solidFill>
                <a:latin typeface="Aptos Display"/>
              </a:rPr>
              <a:t>A service desk with a visible line of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48C"/>
                </a:solidFill>
                <a:latin typeface="Aptos"/>
              </a:rPr>
              <a:t>The prototype supports the full request lifecycle from intake to audit.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56231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856231"/>
            <a:ext cx="2788920" cy="91440"/>
          </a:xfrm>
          <a:prstGeom prst="roundRect">
            <a:avLst>
              <a:gd name="adj" fmla="val 8000"/>
            </a:avLst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17627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B8F83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78608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92743"/>
                </a:solidFill>
                <a:latin typeface="Aptos Display"/>
              </a:rP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035808"/>
            <a:ext cx="226771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48C"/>
                </a:solidFill>
                <a:latin typeface="Aptos"/>
              </a:rPr>
              <a:t>Read the employee issue, identity, date, and current state.</a:t>
            </a:r>
          </a:p>
        </p:txBody>
      </p:sp>
      <p:sp>
        <p:nvSpPr>
          <p:cNvPr id="10" name="Chevron 9"/>
          <p:cNvSpPr/>
          <p:nvPr/>
        </p:nvSpPr>
        <p:spPr>
          <a:xfrm>
            <a:off x="3602736" y="2788920"/>
            <a:ext cx="347472" cy="329184"/>
          </a:xfrm>
          <a:prstGeom prst="chevron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8" y="2880360"/>
            <a:ext cx="182880" cy="1920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92743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856231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69080" y="1856231"/>
            <a:ext cx="2788920" cy="91440"/>
          </a:xfrm>
          <a:prstGeom prst="roundRect">
            <a:avLst>
              <a:gd name="adj" fmla="val 8000"/>
            </a:avLst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217627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C98515"/>
                </a:solidFill>
                <a:latin typeface="Aptos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578608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92743"/>
                </a:solidFill>
                <a:latin typeface="Aptos Display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035808"/>
            <a:ext cx="226771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48C"/>
                </a:solidFill>
                <a:latin typeface="Aptos"/>
              </a:rPr>
              <a:t>Match the request to a policy or ticket precedent.</a:t>
            </a:r>
          </a:p>
        </p:txBody>
      </p:sp>
      <p:sp>
        <p:nvSpPr>
          <p:cNvPr id="17" name="Chevron 16"/>
          <p:cNvSpPr/>
          <p:nvPr/>
        </p:nvSpPr>
        <p:spPr>
          <a:xfrm>
            <a:off x="6958584" y="2788920"/>
            <a:ext cx="347472" cy="329184"/>
          </a:xfrm>
          <a:prstGeom prst="chevron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31736" y="2880360"/>
            <a:ext cx="182880" cy="1920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92743"/>
                </a:solidFill>
                <a:latin typeface="Apto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24927" y="1856231"/>
            <a:ext cx="278892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24927" y="1856231"/>
            <a:ext cx="2788920" cy="91440"/>
          </a:xfrm>
          <a:prstGeom prst="roundRect">
            <a:avLst>
              <a:gd name="adj" fmla="val 8000"/>
            </a:avLst>
          </a:prstGeom>
          <a:solidFill>
            <a:srgbClr val="C34C4C"/>
          </a:solidFill>
          <a:ln>
            <a:solidFill>
              <a:srgbClr val="C3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53527" y="2176272"/>
            <a:ext cx="411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C34C4C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7" y="2578608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92743"/>
                </a:solidFill>
                <a:latin typeface="Aptos Display"/>
              </a:rP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7" y="3035808"/>
            <a:ext cx="2267712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48C"/>
                </a:solidFill>
                <a:latin typeface="Aptos"/>
              </a:rPr>
              <a:t>Resolve directly, ask for input, or route to a human owner.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599432"/>
            <a:ext cx="9500616" cy="804672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>
            <a:solidFill>
              <a:srgbClr val="E8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4800600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CORE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745736"/>
            <a:ext cx="7498079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92743"/>
                </a:solidFill>
                <a:latin typeface="Aptos"/>
              </a:rPr>
              <a:t>Resolve only when the supplied source supports a clear action. Otherwise, ask or escalate.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61320" y="1856231"/>
            <a:ext cx="987552" cy="3547872"/>
          </a:xfrm>
          <a:prstGeom prst="roundRect">
            <a:avLst>
              <a:gd name="adj" fmla="val 8000"/>
            </a:avLst>
          </a:prstGeom>
          <a:solidFill>
            <a:srgbClr val="192743"/>
          </a:solidFill>
          <a:ln>
            <a:solidFill>
              <a:srgbClr val="19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35056" y="2194560"/>
            <a:ext cx="65836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 Display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2578608"/>
            <a:ext cx="6583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C3D0E3"/>
                </a:solidFill>
                <a:latin typeface="Aptos"/>
              </a:rPr>
              <a:t>employee
requests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744200" y="3246120"/>
            <a:ext cx="621792" cy="0"/>
          </a:xfrm>
          <a:prstGeom prst="line">
            <a:avLst/>
          </a:prstGeom>
          <a:ln w="10160">
            <a:solidFill>
              <a:srgbClr val="455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735056" y="3511296"/>
            <a:ext cx="65836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C98515"/>
                </a:solidFill>
                <a:latin typeface="Aptos Display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16768" y="3904487"/>
            <a:ext cx="6583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C3D0E3"/>
                </a:solidFill>
                <a:latin typeface="Aptos"/>
              </a:rPr>
              <a:t>policy
sources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35056" y="4818888"/>
            <a:ext cx="658368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400" b="1" i="0">
                <a:solidFill>
                  <a:srgbClr val="0B8F83"/>
                </a:solidFill>
                <a:latin typeface="Aptos Display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16768" y="5184648"/>
            <a:ext cx="65836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C3D0E3"/>
                </a:solidFill>
                <a:latin typeface="Aptos"/>
              </a:rPr>
              <a:t>tickets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1792" y="6528816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VERIDIAN SERVICE DESK  /  ASSIGNMENT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48C"/>
                </a:solidFill>
                <a:latin typeface="Apto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03  /  COMPLETE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92743"/>
                </a:solidFill>
                <a:latin typeface="Aptos Display"/>
              </a:rPr>
              <a:t>Architecture of the complete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48C"/>
                </a:solidFill>
                <a:latin typeface="Aptos"/>
              </a:rPr>
              <a:t>A zero-install browser prototype with explicit source data and deterministic interaction logic.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91640"/>
            <a:ext cx="9921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43000" y="1691640"/>
            <a:ext cx="109728" cy="640080"/>
          </a:xfrm>
          <a:prstGeom prst="roundRect">
            <a:avLst>
              <a:gd name="adj" fmla="val 8000"/>
            </a:avLst>
          </a:prstGeom>
          <a:solidFill>
            <a:srgbClr val="3874C7"/>
          </a:solidFill>
          <a:ln>
            <a:solidFill>
              <a:srgbClr val="38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44752" y="1819656"/>
            <a:ext cx="2148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874C7"/>
                </a:solidFill>
                <a:latin typeface="Aptos"/>
              </a:rPr>
              <a:t>USER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19656"/>
            <a:ext cx="6858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E2B41"/>
                </a:solidFill>
                <a:latin typeface="Aptos"/>
              </a:rPr>
              <a:t>Employee or IT operator
Browser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1837944"/>
            <a:ext cx="274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4748C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542032"/>
            <a:ext cx="9921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43000" y="2542032"/>
            <a:ext cx="109728" cy="640080"/>
          </a:xfrm>
          <a:prstGeom prst="roundRect">
            <a:avLst>
              <a:gd name="adj" fmla="val 8000"/>
            </a:avLst>
          </a:prstGeom>
          <a:solidFill>
            <a:srgbClr val="192743"/>
          </a:solidFill>
          <a:ln>
            <a:solidFill>
              <a:srgbClr val="19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44752" y="2670048"/>
            <a:ext cx="2148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92743"/>
                </a:solidFill>
                <a:latin typeface="Aptos"/>
              </a:rPr>
              <a:t>PRESENTATION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670048"/>
            <a:ext cx="6858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E2B41"/>
                </a:solidFill>
                <a:latin typeface="Aptos"/>
              </a:rPr>
              <a:t>Dashboard  ·  Inbox  ·  Tickets
Policy library  · 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2688336"/>
            <a:ext cx="274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4748C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392424"/>
            <a:ext cx="9921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43000" y="3392424"/>
            <a:ext cx="109728" cy="640080"/>
          </a:xfrm>
          <a:prstGeom prst="roundRect">
            <a:avLst>
              <a:gd name="adj" fmla="val 8000"/>
            </a:avLst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44752" y="3520440"/>
            <a:ext cx="2148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AGENT LOGIC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520440"/>
            <a:ext cx="6858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E2B41"/>
                </a:solidFill>
                <a:latin typeface="Aptos"/>
              </a:rPr>
              <a:t>Classify  ·  filter  ·  recommend
resolve  ·  route  ·  follow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3538728"/>
            <a:ext cx="274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4748C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242816"/>
            <a:ext cx="9921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143000" y="4242816"/>
            <a:ext cx="109728" cy="640080"/>
          </a:xfrm>
          <a:prstGeom prst="roundRect">
            <a:avLst>
              <a:gd name="adj" fmla="val 8000"/>
            </a:avLst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44752" y="4370831"/>
            <a:ext cx="2148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98515"/>
                </a:solidFill>
                <a:latin typeface="Aptos"/>
              </a:rPr>
              <a:t>GROUNDING 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4370831"/>
            <a:ext cx="6858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E2B41"/>
                </a:solidFill>
                <a:latin typeface="Aptos"/>
              </a:rPr>
              <a:t>Policies  ·  employee requests
existing tickets  ·  audit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4389120"/>
            <a:ext cx="274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4748C"/>
                </a:solidFill>
                <a:latin typeface="Aptos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093208"/>
            <a:ext cx="9921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43000" y="5093208"/>
            <a:ext cx="109728" cy="640080"/>
          </a:xfrm>
          <a:prstGeom prst="roundRect">
            <a:avLst>
              <a:gd name="adj" fmla="val 8000"/>
            </a:avLst>
          </a:prstGeom>
          <a:solidFill>
            <a:srgbClr val="C34C4C"/>
          </a:solidFill>
          <a:ln>
            <a:solidFill>
              <a:srgbClr val="C3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44752" y="5221224"/>
            <a:ext cx="21488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34C4C"/>
                </a:solidFill>
                <a:latin typeface="Aptos"/>
              </a:rPr>
              <a:t>OUTPUT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5221224"/>
            <a:ext cx="6858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E2B41"/>
                </a:solidFill>
                <a:latin typeface="Aptos"/>
              </a:rPr>
              <a:t>Recommendation  ·  source citation
status change  ·  audit event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1691640"/>
            <a:ext cx="210312" cy="4041648"/>
          </a:xfrm>
          <a:prstGeom prst="roundRect">
            <a:avLst>
              <a:gd name="adj" fmla="val 8000"/>
            </a:avLst>
          </a:prstGeom>
          <a:solidFill>
            <a:srgbClr val="192743"/>
          </a:solidFill>
          <a:ln>
            <a:solidFill>
              <a:srgbClr val="19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1920240"/>
            <a:ext cx="91440" cy="3337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V
E
R
I
D
I
A
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" y="6053328"/>
            <a:ext cx="97840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4748C"/>
                </a:solidFill>
                <a:latin typeface="Aptos"/>
              </a:rPr>
              <a:t>Implementation: HTML5 + CSS3 + Vanilla JavaScript  ·  No backend required for the reviewable prototype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6528816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VERIDIAN SERVICE DESK  /  ASSIGNMENT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48C"/>
                </a:solidFill>
                <a:latin typeface="Apto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04  / 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92743"/>
                </a:solidFill>
                <a:latin typeface="Aptos Display"/>
              </a:rPr>
              <a:t>From employee message to accountable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48C"/>
                </a:solidFill>
                <a:latin typeface="Aptos"/>
              </a:rPr>
              <a:t>The workflow keeps every recommendation tied to a source and a visible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1856231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856231" cy="91440"/>
          </a:xfrm>
          <a:prstGeom prst="roundRect">
            <a:avLst>
              <a:gd name="adj" fmla="val 8000"/>
            </a:avLst>
          </a:prstGeom>
          <a:solidFill>
            <a:srgbClr val="3874C7"/>
          </a:solidFill>
          <a:ln>
            <a:solidFill>
              <a:srgbClr val="38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" y="2240280"/>
            <a:ext cx="320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3874C7"/>
                </a:solidFill>
                <a:latin typeface="Aptos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578608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92743"/>
                </a:solidFill>
                <a:latin typeface="Aptos"/>
              </a:rPr>
              <a:t>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889504"/>
            <a:ext cx="153619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48C"/>
                </a:solidFill>
                <a:latin typeface="Aptos"/>
              </a:rPr>
              <a:t>Email + issue
description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2596896" y="2587752"/>
            <a:ext cx="292608" cy="310896"/>
          </a:xfrm>
          <a:prstGeom prst="chevron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70048" y="2679192"/>
            <a:ext cx="128016" cy="1737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92743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011680"/>
            <a:ext cx="1856231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26080" y="2011680"/>
            <a:ext cx="1856231" cy="91440"/>
          </a:xfrm>
          <a:prstGeom prst="roundRect">
            <a:avLst>
              <a:gd name="adj" fmla="val 8000"/>
            </a:avLst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81528" y="2240280"/>
            <a:ext cx="320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B8F83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578608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92743"/>
                </a:solidFill>
                <a:latin typeface="Aptos"/>
              </a:rPr>
              <a:t>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889504"/>
            <a:ext cx="153619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48C"/>
                </a:solidFill>
                <a:latin typeface="Aptos"/>
              </a:rPr>
              <a:t>Access, hardware,
software, security</a:t>
            </a:r>
          </a:p>
        </p:txBody>
      </p:sp>
      <p:sp>
        <p:nvSpPr>
          <p:cNvPr id="17" name="Chevron 16"/>
          <p:cNvSpPr/>
          <p:nvPr/>
        </p:nvSpPr>
        <p:spPr>
          <a:xfrm>
            <a:off x="4864608" y="2587752"/>
            <a:ext cx="292608" cy="310896"/>
          </a:xfrm>
          <a:prstGeom prst="chevron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2679192"/>
            <a:ext cx="128016" cy="1737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92743"/>
                </a:solidFill>
                <a:latin typeface="Apto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2011680"/>
            <a:ext cx="1856231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93792" y="2011680"/>
            <a:ext cx="1856231" cy="91440"/>
          </a:xfrm>
          <a:prstGeom prst="roundRect">
            <a:avLst>
              <a:gd name="adj" fmla="val 8000"/>
            </a:avLst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9240" y="2240280"/>
            <a:ext cx="320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C98515"/>
                </a:solidFill>
                <a:latin typeface="Aptos Display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578608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92743"/>
                </a:solidFill>
                <a:latin typeface="Aptos"/>
              </a:rPr>
              <a:t>GROUND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889504"/>
            <a:ext cx="153619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48C"/>
                </a:solidFill>
                <a:latin typeface="Aptos"/>
              </a:rPr>
              <a:t>KB source or
ticket precedent</a:t>
            </a:r>
          </a:p>
        </p:txBody>
      </p:sp>
      <p:sp>
        <p:nvSpPr>
          <p:cNvPr id="24" name="Chevron 23"/>
          <p:cNvSpPr/>
          <p:nvPr/>
        </p:nvSpPr>
        <p:spPr>
          <a:xfrm>
            <a:off x="7132320" y="2587752"/>
            <a:ext cx="292608" cy="310896"/>
          </a:xfrm>
          <a:prstGeom prst="chevron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05472" y="2679192"/>
            <a:ext cx="128016" cy="1737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92743"/>
                </a:solidFill>
                <a:latin typeface="Aptos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61504" y="2011680"/>
            <a:ext cx="1856231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61504" y="2011680"/>
            <a:ext cx="1856231" cy="91440"/>
          </a:xfrm>
          <a:prstGeom prst="roundRect">
            <a:avLst>
              <a:gd name="adj" fmla="val 8000"/>
            </a:avLst>
          </a:prstGeom>
          <a:solidFill>
            <a:srgbClr val="C34C4C"/>
          </a:solidFill>
          <a:ln>
            <a:solidFill>
              <a:srgbClr val="C3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16952" y="2240280"/>
            <a:ext cx="320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C34C4C"/>
                </a:solidFill>
                <a:latin typeface="Aptos Display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2578608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92743"/>
                </a:solidFill>
                <a:latin typeface="Aptos"/>
              </a:rPr>
              <a:t>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2889504"/>
            <a:ext cx="153619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48C"/>
                </a:solidFill>
                <a:latin typeface="Aptos"/>
              </a:rPr>
              <a:t>Resolve, ask,
or route</a:t>
            </a:r>
          </a:p>
        </p:txBody>
      </p:sp>
      <p:sp>
        <p:nvSpPr>
          <p:cNvPr id="31" name="Chevron 30"/>
          <p:cNvSpPr/>
          <p:nvPr/>
        </p:nvSpPr>
        <p:spPr>
          <a:xfrm>
            <a:off x="9400032" y="2587752"/>
            <a:ext cx="292608" cy="310896"/>
          </a:xfrm>
          <a:prstGeom prst="chevron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73184" y="2679192"/>
            <a:ext cx="128016" cy="1737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92743"/>
                </a:solidFill>
                <a:latin typeface="Aptos"/>
              </a:rP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29216" y="2011680"/>
            <a:ext cx="1856231" cy="1490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729216" y="2011680"/>
            <a:ext cx="1856231" cy="91440"/>
          </a:xfrm>
          <a:prstGeom prst="roundRect">
            <a:avLst>
              <a:gd name="adj" fmla="val 8000"/>
            </a:avLst>
          </a:prstGeom>
          <a:solidFill>
            <a:srgbClr val="192743"/>
          </a:solidFill>
          <a:ln>
            <a:solidFill>
              <a:srgbClr val="19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84664" y="2240280"/>
            <a:ext cx="3200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92743"/>
                </a:solidFill>
                <a:latin typeface="Aptos Display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4" y="2578608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92743"/>
                </a:solidFill>
                <a:latin typeface="Aptos"/>
              </a:rPr>
              <a:t>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4664" y="2889504"/>
            <a:ext cx="1536192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48C"/>
                </a:solidFill>
                <a:latin typeface="Aptos"/>
              </a:rPr>
              <a:t>Record action
and source</a:t>
            </a:r>
          </a:p>
        </p:txBody>
      </p:sp>
      <p:cxnSp>
        <p:nvCxnSpPr>
          <p:cNvPr id="38" name="Connector 37"/>
          <p:cNvCxnSpPr>
            <a:cxnSpLocks/>
            <a:stCxn id="5" idx="2"/>
          </p:cNvCxnSpPr>
          <p:nvPr/>
        </p:nvCxnSpPr>
        <p:spPr>
          <a:xfrm flipH="1">
            <a:off x="1572768" y="3502152"/>
            <a:ext cx="13716" cy="704088"/>
          </a:xfrm>
          <a:prstGeom prst="line">
            <a:avLst/>
          </a:prstGeom>
          <a:ln w="15240">
            <a:solidFill>
              <a:srgbClr val="64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581912" y="4206240"/>
            <a:ext cx="4700016" cy="0"/>
          </a:xfrm>
          <a:prstGeom prst="line">
            <a:avLst/>
          </a:prstGeom>
          <a:ln w="15240">
            <a:solidFill>
              <a:srgbClr val="64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272784" y="4206240"/>
            <a:ext cx="0" cy="411480"/>
          </a:xfrm>
          <a:prstGeom prst="line">
            <a:avLst/>
          </a:prstGeom>
          <a:ln w="15240">
            <a:solidFill>
              <a:srgbClr val="647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86384" y="3817620"/>
            <a:ext cx="1280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 dirty="0">
                <a:solidFill>
                  <a:srgbClr val="C34C4C"/>
                </a:solidFill>
                <a:latin typeface="Aptos"/>
              </a:rPr>
              <a:t>NO SOURCE?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" y="4617720"/>
            <a:ext cx="2971800" cy="795528"/>
          </a:xfrm>
          <a:prstGeom prst="roundRect">
            <a:avLst>
              <a:gd name="adj" fmla="val 8000"/>
            </a:avLst>
          </a:prstGeom>
          <a:solidFill>
            <a:srgbClr val="FDF0F0"/>
          </a:solidFill>
          <a:ln>
            <a:solidFill>
              <a:srgbClr val="FD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5840" y="4782312"/>
            <a:ext cx="24871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C34C4C"/>
                </a:solidFill>
                <a:latin typeface="Aptos"/>
              </a:rPr>
              <a:t>Ask clarification or route to human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33087" y="4617720"/>
            <a:ext cx="2971800" cy="795528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>
            <a:solidFill>
              <a:srgbClr val="E8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52544" y="4782312"/>
            <a:ext cx="24871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0B8F83"/>
                </a:solidFill>
                <a:latin typeface="Aptos"/>
              </a:rPr>
              <a:t>Direct resolution when low risk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79792" y="4617720"/>
            <a:ext cx="2971800" cy="795528"/>
          </a:xfrm>
          <a:prstGeom prst="roundRect">
            <a:avLst>
              <a:gd name="adj" fmla="val 8000"/>
            </a:avLst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99248" y="4782312"/>
            <a:ext cx="2487168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C98515"/>
                </a:solidFill>
                <a:latin typeface="Aptos"/>
              </a:rPr>
              <a:t>Approval or specialist routing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21792" y="6528816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VERIDIAN SERVICE DESK  /  ASSIGNMENT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48C"/>
                </a:solidFill>
                <a:latin typeface="Apto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05  /  INPUTS +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92743"/>
                </a:solidFill>
                <a:latin typeface="Aptos Display"/>
              </a:rPr>
              <a:t>What the agent is allowed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48C"/>
                </a:solidFill>
                <a:latin typeface="Aptos"/>
              </a:rPr>
              <a:t>The assignment data pack is the source of truth. The prototype does not infer unsupported policy.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83080"/>
            <a:ext cx="48006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783080"/>
            <a:ext cx="100584" cy="841248"/>
          </a:xfrm>
          <a:prstGeom prst="roundRect">
            <a:avLst>
              <a:gd name="adj" fmla="val 8000"/>
            </a:avLst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29384"/>
            <a:ext cx="1417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KNOWLEDGE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1901952"/>
            <a:ext cx="80467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92743"/>
                </a:solidFill>
                <a:latin typeface="Aptos Display"/>
              </a:rPr>
              <a:t>10 KB policies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1929384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48C"/>
                </a:solidFill>
                <a:latin typeface="Aptos"/>
              </a:rPr>
              <a:t>Defines supported actions and boundaries.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926080"/>
            <a:ext cx="48006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3232" y="2926080"/>
            <a:ext cx="100584" cy="841248"/>
          </a:xfrm>
          <a:prstGeom prst="roundRect">
            <a:avLst>
              <a:gd name="adj" fmla="val 8000"/>
            </a:avLst>
          </a:prstGeom>
          <a:solidFill>
            <a:srgbClr val="3874C7"/>
          </a:solidFill>
          <a:ln>
            <a:solidFill>
              <a:srgbClr val="38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072384"/>
            <a:ext cx="1417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874C7"/>
                </a:solidFill>
                <a:latin typeface="Aptos"/>
              </a:rPr>
              <a:t>EMPLOYEE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3044952"/>
            <a:ext cx="80467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92743"/>
                </a:solidFill>
                <a:latin typeface="Aptos Display"/>
              </a:rPr>
              <a:t>15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3072384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48C"/>
                </a:solidFill>
                <a:latin typeface="Aptos"/>
              </a:rPr>
              <a:t>Drives the inbox and triage workflow.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069080"/>
            <a:ext cx="48006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3232" y="4069080"/>
            <a:ext cx="100584" cy="841248"/>
          </a:xfrm>
          <a:prstGeom prst="roundRect">
            <a:avLst>
              <a:gd name="adj" fmla="val 8000"/>
            </a:avLst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4215384"/>
            <a:ext cx="1417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98515"/>
                </a:solidFill>
                <a:latin typeface="Aptos"/>
              </a:rPr>
              <a:t>TICKET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4187952"/>
            <a:ext cx="804672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92743"/>
                </a:solidFill>
                <a:latin typeface="Aptos Display"/>
              </a:rPr>
              <a:t>10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4215384"/>
            <a:ext cx="16916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48C"/>
                </a:solidFill>
                <a:latin typeface="Aptos"/>
              </a:rPr>
              <a:t>Provides active/closed context and precedent.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88736" y="1783080"/>
            <a:ext cx="5458968" cy="4270248"/>
          </a:xfrm>
          <a:prstGeom prst="roundRect">
            <a:avLst>
              <a:gd name="adj" fmla="val 8000"/>
            </a:avLst>
          </a:prstGeom>
          <a:solidFill>
            <a:srgbClr val="192743"/>
          </a:solidFill>
          <a:ln>
            <a:solidFill>
              <a:srgbClr val="19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208" y="2039112"/>
            <a:ext cx="46634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 Display"/>
              </a:rPr>
              <a:t>Assumptions and guardrails</a:t>
            </a:r>
          </a:p>
        </p:txBody>
      </p:sp>
      <p:sp>
        <p:nvSpPr>
          <p:cNvPr id="22" name="Oval 21"/>
          <p:cNvSpPr/>
          <p:nvPr/>
        </p:nvSpPr>
        <p:spPr>
          <a:xfrm>
            <a:off x="6263640" y="2651760"/>
            <a:ext cx="91440" cy="91440"/>
          </a:xfrm>
          <a:prstGeom prst="ellipse">
            <a:avLst/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2578608"/>
            <a:ext cx="43434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AE2EE"/>
                </a:solidFill>
                <a:latin typeface="Aptos"/>
              </a:rPr>
              <a:t>The data pack is the only source of truth.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3090672"/>
            <a:ext cx="91440" cy="91440"/>
          </a:xfrm>
          <a:prstGeom prst="ellipse">
            <a:avLst/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017520"/>
            <a:ext cx="43434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AE2EE"/>
                </a:solidFill>
                <a:latin typeface="Aptos"/>
              </a:rPr>
              <a:t>Missing context triggers a follow-up or escalation.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3529584"/>
            <a:ext cx="91440" cy="91440"/>
          </a:xfrm>
          <a:prstGeom prst="ellipse">
            <a:avLst/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456432"/>
            <a:ext cx="43434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AE2EE"/>
                </a:solidFill>
                <a:latin typeface="Aptos"/>
              </a:rPr>
              <a:t>Security and access requests are handled conservatively.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3968496"/>
            <a:ext cx="91440" cy="91440"/>
          </a:xfrm>
          <a:prstGeom prst="ellipse">
            <a:avLst/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3895344"/>
            <a:ext cx="43434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AE2EE"/>
                </a:solidFill>
                <a:latin typeface="Aptos"/>
              </a:rPr>
              <a:t>Closed tickets remain history, not new work.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4407408"/>
            <a:ext cx="91440" cy="91440"/>
          </a:xfrm>
          <a:prstGeom prst="ellipse">
            <a:avLst/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334256"/>
            <a:ext cx="43434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AE2EE"/>
                </a:solidFill>
                <a:latin typeface="Aptos"/>
              </a:rPr>
              <a:t>The prototype has no live identity, email, or ITSM integration.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54496" y="5422392"/>
            <a:ext cx="1865376" cy="292608"/>
          </a:xfrm>
          <a:prstGeom prst="roundRect">
            <a:avLst>
              <a:gd name="adj" fmla="val 8000"/>
            </a:avLst>
          </a:prstGeom>
          <a:solidFill>
            <a:srgbClr val="FDF0F0"/>
          </a:solidFill>
          <a:ln>
            <a:solidFill>
              <a:srgbClr val="FD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54496" y="5463540"/>
            <a:ext cx="1865376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34C4C"/>
                </a:solidFill>
                <a:latin typeface="Aptos"/>
              </a:rPr>
              <a:t>NO INVENTED POLICY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1792" y="6528816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VERIDIAN SERVICE DESK  /  ASSIGNMENT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48C"/>
                </a:solidFill>
                <a:latin typeface="Apto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06  / 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92743"/>
                </a:solidFill>
                <a:latin typeface="Aptos Display"/>
              </a:rPr>
              <a:t>Examples of grounded agent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48C"/>
                </a:solidFill>
                <a:latin typeface="Aptos"/>
              </a:rPr>
              <a:t>A strong support agent knows when to answer, when to ask, and when to hand off.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737360"/>
            <a:ext cx="525780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3544" y="1938528"/>
            <a:ext cx="713232" cy="292608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>
            <a:solidFill>
              <a:srgbClr val="E8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544" y="1979676"/>
            <a:ext cx="71323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0B8F83"/>
                </a:solidFill>
                <a:latin typeface="Aptos"/>
              </a:rPr>
              <a:t>REQ-03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92224" y="1947672"/>
            <a:ext cx="3063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92743"/>
                </a:solidFill>
                <a:latin typeface="Aptos Display"/>
              </a:rPr>
              <a:t>Password lockout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" y="2395728"/>
            <a:ext cx="1481328" cy="292608"/>
          </a:xfrm>
          <a:prstGeom prst="roundRect">
            <a:avLst>
              <a:gd name="adj" fmla="val 8000"/>
            </a:avLst>
          </a:prstGeom>
          <a:solidFill>
            <a:srgbClr val="E8F6F3"/>
          </a:solidFill>
          <a:ln>
            <a:solidFill>
              <a:srgbClr val="E8F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2436876"/>
            <a:ext cx="14813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0B8F83"/>
                </a:solidFill>
                <a:latin typeface="Aptos"/>
              </a:rPr>
              <a:t>RESOLVE DIRECTLY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377439"/>
            <a:ext cx="3072384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48C"/>
                </a:solidFill>
                <a:latin typeface="Aptos"/>
              </a:rPr>
              <a:t>Six failed attempts meet KB-01. IT can manually unlock the account; no approval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980944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2962656"/>
            <a:ext cx="1417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KB-01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1737360"/>
            <a:ext cx="525780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92824" y="1938528"/>
            <a:ext cx="713232" cy="292608"/>
          </a:xfrm>
          <a:prstGeom prst="roundRect">
            <a:avLst>
              <a:gd name="adj" fmla="val 8000"/>
            </a:avLst>
          </a:prstGeom>
          <a:solidFill>
            <a:srgbClr val="FDF0F0"/>
          </a:solidFill>
          <a:ln>
            <a:solidFill>
              <a:srgbClr val="FD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92824" y="1979676"/>
            <a:ext cx="71323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34C4C"/>
                </a:solidFill>
                <a:latin typeface="Aptos"/>
              </a:rPr>
              <a:t>REQ-08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1504" y="1947672"/>
            <a:ext cx="3063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92743"/>
                </a:solidFill>
                <a:latin typeface="Aptos Display"/>
              </a:rPr>
              <a:t>Suspected phishing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92824" y="2395728"/>
            <a:ext cx="1481328" cy="292608"/>
          </a:xfrm>
          <a:prstGeom prst="roundRect">
            <a:avLst>
              <a:gd name="adj" fmla="val 8000"/>
            </a:avLst>
          </a:prstGeom>
          <a:solidFill>
            <a:srgbClr val="FDF0F0"/>
          </a:solidFill>
          <a:ln>
            <a:solidFill>
              <a:srgbClr val="FD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92824" y="2436876"/>
            <a:ext cx="14813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34C4C"/>
                </a:solidFill>
                <a:latin typeface="Aptos"/>
              </a:rPr>
              <a:t>ESCALATE TO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377439"/>
            <a:ext cx="3072384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48C"/>
                </a:solidFill>
                <a:latin typeface="Aptos"/>
              </a:rPr>
              <a:t>KB-09 requires immediate reporting to Security and says not to forward the email.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2980944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5" y="2962656"/>
            <a:ext cx="1417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34C4C"/>
                </a:solidFill>
                <a:latin typeface="Aptos"/>
              </a:rPr>
              <a:t>KB-09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3730752"/>
            <a:ext cx="525780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23544" y="3931920"/>
            <a:ext cx="713232" cy="292608"/>
          </a:xfrm>
          <a:prstGeom prst="roundRect">
            <a:avLst>
              <a:gd name="adj" fmla="val 8000"/>
            </a:avLst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544" y="3973068"/>
            <a:ext cx="71323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98515"/>
                </a:solidFill>
                <a:latin typeface="Aptos"/>
              </a:rPr>
              <a:t>REQ-11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2224" y="3941064"/>
            <a:ext cx="3063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92743"/>
                </a:solidFill>
                <a:latin typeface="Aptos Display"/>
              </a:rPr>
              <a:t>Contractor VPN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" y="4389120"/>
            <a:ext cx="1481328" cy="292608"/>
          </a:xfrm>
          <a:prstGeom prst="roundRect">
            <a:avLst>
              <a:gd name="adj" fmla="val 8000"/>
            </a:avLst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" y="4430268"/>
            <a:ext cx="14813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C98515"/>
                </a:solidFill>
                <a:latin typeface="Aptos"/>
              </a:rPr>
              <a:t>APPROVAL 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2032" y="4370832"/>
            <a:ext cx="3072384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48C"/>
                </a:solidFill>
                <a:latin typeface="Aptos"/>
              </a:rPr>
              <a:t>KB-02 requires manager approval through the access request form.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" y="4974336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82496" y="4956048"/>
            <a:ext cx="1417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98515"/>
                </a:solidFill>
                <a:latin typeface="Aptos"/>
              </a:rPr>
              <a:t>KB-02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64224" y="3730752"/>
            <a:ext cx="5257800" cy="16093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592824" y="3931920"/>
            <a:ext cx="713232" cy="292608"/>
          </a:xfrm>
          <a:prstGeom prst="roundRect">
            <a:avLst>
              <a:gd name="adj" fmla="val 8000"/>
            </a:avLst>
          </a:prstGeom>
          <a:solidFill>
            <a:srgbClr val="EBF2FD"/>
          </a:solidFill>
          <a:ln>
            <a:solidFill>
              <a:srgbClr val="EB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92824" y="3973068"/>
            <a:ext cx="71323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3874C7"/>
                </a:solidFill>
                <a:latin typeface="Aptos"/>
              </a:rPr>
              <a:t>REQ-15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504" y="3941064"/>
            <a:ext cx="3063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92743"/>
                </a:solidFill>
                <a:latin typeface="Aptos Display"/>
              </a:rPr>
              <a:t>Unclear request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92824" y="4389120"/>
            <a:ext cx="1481328" cy="292608"/>
          </a:xfrm>
          <a:prstGeom prst="roundRect">
            <a:avLst>
              <a:gd name="adj" fmla="val 8000"/>
            </a:avLst>
          </a:prstGeom>
          <a:solidFill>
            <a:srgbClr val="EBF2FD"/>
          </a:solidFill>
          <a:ln>
            <a:solidFill>
              <a:srgbClr val="EB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92824" y="4430268"/>
            <a:ext cx="14813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3874C7"/>
                </a:solidFill>
                <a:latin typeface="Aptos"/>
              </a:rPr>
              <a:t>ASK FOLLOW-UP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370832"/>
            <a:ext cx="3072384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48C"/>
                </a:solidFill>
                <a:latin typeface="Aptos"/>
              </a:rPr>
              <a:t>The service, device, and error are unknown. The agent cannot safely infer the fix.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2824" y="4974336"/>
            <a:ext cx="7315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SOURCE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51775" y="4956048"/>
            <a:ext cx="14173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874C7"/>
                </a:solidFill>
                <a:latin typeface="Aptos"/>
              </a:rPr>
              <a:t>CLARIFY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1792" y="6528816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VERIDIAN SERVICE DESK  /  ASSIGNMENT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48C"/>
                </a:solidFill>
                <a:latin typeface="Apto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07  / 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92743"/>
                </a:solidFill>
                <a:latin typeface="Aptos Display"/>
              </a:rPr>
              <a:t>One workspace for triage, tickets, sources, and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48C"/>
                </a:solidFill>
                <a:latin typeface="Aptos"/>
              </a:rPr>
              <a:t>The interface is designed for scanning, comparison, and repeated support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64208"/>
            <a:ext cx="1097280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1700784" cy="4343400"/>
          </a:xfrm>
          <a:prstGeom prst="roundRect">
            <a:avLst>
              <a:gd name="adj" fmla="val 8000"/>
            </a:avLst>
          </a:prstGeom>
          <a:solidFill>
            <a:srgbClr val="192743"/>
          </a:solidFill>
          <a:ln>
            <a:solidFill>
              <a:srgbClr val="19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11887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 Display"/>
              </a:rPr>
              <a:t>veridian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11887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9FB1CC"/>
                </a:solidFill>
                <a:latin typeface="Aptos"/>
              </a:rPr>
              <a:t>service 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43200"/>
            <a:ext cx="118872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EBED4"/>
                </a:solidFill>
                <a:latin typeface="Aptos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54680"/>
            <a:ext cx="118872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EBED4"/>
                </a:solidFill>
                <a:latin typeface="Aptos"/>
              </a:rPr>
              <a:t>Agent inbox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3520440"/>
            <a:ext cx="1463040" cy="274320"/>
          </a:xfrm>
          <a:prstGeom prst="roundRect">
            <a:avLst>
              <a:gd name="adj" fmla="val 8000"/>
            </a:avLst>
          </a:prstGeom>
          <a:solidFill>
            <a:srgbClr val="233656"/>
          </a:solidFill>
          <a:ln>
            <a:solidFill>
              <a:srgbClr val="23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566160"/>
            <a:ext cx="118872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ptos"/>
              </a:rPr>
              <a:t>Ticket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118872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EBED4"/>
                </a:solidFill>
                <a:latin typeface="Aptos"/>
              </a:rPr>
              <a:t>Policy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389120"/>
            <a:ext cx="1188720" cy="155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AEBED4"/>
                </a:solidFill>
                <a:latin typeface="Aptos"/>
              </a:rPr>
              <a:t>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1947672"/>
            <a:ext cx="32918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92743"/>
                </a:solidFill>
                <a:latin typeface="Aptos Display"/>
              </a:rPr>
              <a:t>Good morning, Samir.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2258568"/>
            <a:ext cx="36576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4748C"/>
                </a:solidFill>
                <a:latin typeface="Aptos"/>
              </a:rPr>
              <a:t>Your command centre for policy-grounded support.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2697480"/>
            <a:ext cx="1737360" cy="786384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25496" y="2852928"/>
            <a:ext cx="13258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48C"/>
                </a:solidFill>
                <a:latin typeface="Aptos"/>
              </a:rPr>
              <a:t>Open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25496" y="3081528"/>
            <a:ext cx="640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92743"/>
                </a:solidFill>
                <a:latin typeface="Aptos Display"/>
              </a:rPr>
              <a:t>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59936" y="286207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672584" y="2697480"/>
            <a:ext cx="1737360" cy="786384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00600" y="2852928"/>
            <a:ext cx="13258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48C"/>
                </a:solidFill>
                <a:latin typeface="Aptos"/>
              </a:rPr>
              <a:t>Needs 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081528"/>
            <a:ext cx="640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92743"/>
                </a:solidFill>
                <a:latin typeface="Aptos Display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286207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C34C4C"/>
          </a:solidFill>
          <a:ln>
            <a:solidFill>
              <a:srgbClr val="C3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47688" y="2697480"/>
            <a:ext cx="1737360" cy="786384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75704" y="2852928"/>
            <a:ext cx="13258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48C"/>
                </a:solidFill>
                <a:latin typeface="Aptos"/>
              </a:rPr>
              <a:t>Resolved by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3081528"/>
            <a:ext cx="640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92743"/>
                </a:solidFill>
                <a:latin typeface="Aptos Display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0144" y="286207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622792" y="2697480"/>
            <a:ext cx="1737360" cy="786384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50808" y="2852928"/>
            <a:ext cx="13258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48C"/>
                </a:solidFill>
                <a:latin typeface="Aptos"/>
              </a:rPr>
              <a:t>Policy 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0808" y="3081528"/>
            <a:ext cx="640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92743"/>
                </a:solidFill>
                <a:latin typeface="Aptos Display"/>
              </a:rPr>
              <a:t>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85248" y="2862072"/>
            <a:ext cx="182880" cy="182880"/>
          </a:xfrm>
          <a:prstGeom prst="roundRect">
            <a:avLst>
              <a:gd name="adj" fmla="val 8000"/>
            </a:avLst>
          </a:prstGeom>
          <a:solidFill>
            <a:srgbClr val="3874C7"/>
          </a:solidFill>
          <a:ln>
            <a:solidFill>
              <a:srgbClr val="38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697480" y="3730752"/>
            <a:ext cx="5303520" cy="1746504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07792" y="3950208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92743"/>
                </a:solidFill>
                <a:latin typeface="Aptos"/>
              </a:rPr>
              <a:t>Requests needing attention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907792" y="4261104"/>
            <a:ext cx="4818887" cy="0"/>
          </a:xfrm>
          <a:prstGeom prst="line">
            <a:avLst/>
          </a:prstGeom>
          <a:ln w="1016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926080" y="4480560"/>
            <a:ext cx="73152" cy="73152"/>
          </a:xfrm>
          <a:prstGeom prst="roundRect">
            <a:avLst>
              <a:gd name="adj" fmla="val 8000"/>
            </a:avLst>
          </a:prstGeom>
          <a:solidFill>
            <a:srgbClr val="C34C4C"/>
          </a:solidFill>
          <a:ln>
            <a:solidFill>
              <a:srgbClr val="C3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27248" y="4443984"/>
            <a:ext cx="10515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92743"/>
                </a:solidFill>
                <a:latin typeface="Aptos"/>
              </a:rPr>
              <a:t>REQ-01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443984"/>
            <a:ext cx="3063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48C"/>
                </a:solidFill>
                <a:latin typeface="Aptos"/>
              </a:rPr>
              <a:t>Laptop replacement / hardware failure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26080" y="4782312"/>
            <a:ext cx="73152" cy="73152"/>
          </a:xfrm>
          <a:prstGeom prst="roundRect">
            <a:avLst>
              <a:gd name="adj" fmla="val 8000"/>
            </a:avLst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27248" y="4745736"/>
            <a:ext cx="10515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92743"/>
                </a:solidFill>
                <a:latin typeface="Aptos"/>
              </a:rPr>
              <a:t>REQ-03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4745736"/>
            <a:ext cx="3063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48C"/>
                </a:solidFill>
                <a:latin typeface="Aptos"/>
              </a:rPr>
              <a:t>Account lockout / manual unlock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26080" y="5084064"/>
            <a:ext cx="73152" cy="73152"/>
          </a:xfrm>
          <a:prstGeom prst="roundRect">
            <a:avLst>
              <a:gd name="adj" fmla="val 8000"/>
            </a:avLst>
          </a:prstGeom>
          <a:solidFill>
            <a:srgbClr val="C34C4C"/>
          </a:solidFill>
          <a:ln>
            <a:solidFill>
              <a:srgbClr val="C3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27248" y="5047488"/>
            <a:ext cx="105156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192743"/>
                </a:solidFill>
                <a:latin typeface="Aptos"/>
              </a:rPr>
              <a:t>REQ-08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5047488"/>
            <a:ext cx="3063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48C"/>
                </a:solidFill>
                <a:latin typeface="Aptos"/>
              </a:rPr>
              <a:t>Phishing report / Security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61832" y="2587751"/>
            <a:ext cx="2697480" cy="2779776"/>
          </a:xfrm>
          <a:prstGeom prst="roundRect">
            <a:avLst>
              <a:gd name="adj" fmla="val 8000"/>
            </a:avLst>
          </a:prstGeom>
          <a:solidFill>
            <a:srgbClr val="192743"/>
          </a:solidFill>
          <a:ln>
            <a:solidFill>
              <a:srgbClr val="19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TextBox 45"/>
          <p:cNvSpPr txBox="1"/>
          <p:nvPr/>
        </p:nvSpPr>
        <p:spPr>
          <a:xfrm>
            <a:off x="8650224" y="2953711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 dirty="0">
                <a:solidFill>
                  <a:srgbClr val="A9BCD6"/>
                </a:solidFill>
                <a:latin typeface="Aptos"/>
              </a:rPr>
              <a:t>AGENT PULSE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5088" y="3307743"/>
            <a:ext cx="91440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900" b="1" i="0" dirty="0">
                <a:solidFill>
                  <a:srgbClr val="FFFFFF"/>
                </a:solidFill>
                <a:latin typeface="Aptos Display"/>
              </a:rPr>
              <a:t>86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3493008"/>
            <a:ext cx="6400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 dirty="0">
                <a:solidFill>
                  <a:srgbClr val="A9BCD6"/>
                </a:solidFill>
                <a:latin typeface="Aptos"/>
              </a:rPr>
              <a:t>quality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561832" y="3977639"/>
            <a:ext cx="2167128" cy="0"/>
          </a:xfrm>
          <a:prstGeom prst="line">
            <a:avLst/>
          </a:prstGeom>
          <a:ln w="10160">
            <a:solidFill>
              <a:srgbClr val="4256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564880" y="4233672"/>
            <a:ext cx="1920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Aptos"/>
              </a:rPr>
              <a:t>Every answer has a source.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61832" y="4587703"/>
            <a:ext cx="2057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0" dirty="0">
                <a:solidFill>
                  <a:srgbClr val="C3D0E3"/>
                </a:solidFill>
                <a:latin typeface="Aptos"/>
              </a:rPr>
              <a:t>Policy citations, statuses,
and audit events stay visible.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1792" y="6528816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VERIDIAN SERVICE DESK  /  ASSIGNMENT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48C"/>
                </a:solidFill>
                <a:latin typeface="Apto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08  /  AI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92743"/>
                </a:solidFill>
                <a:latin typeface="Aptos Display"/>
              </a:rPr>
              <a:t>How AI tools were used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48C"/>
                </a:solidFill>
                <a:latin typeface="Aptos"/>
              </a:rPr>
              <a:t>AI accelerated implementation and documentation; the runtime prototype remains deterministic and source-bounded.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56816"/>
            <a:ext cx="1883664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13232" y="1956816"/>
            <a:ext cx="1883664" cy="100584"/>
          </a:xfrm>
          <a:prstGeom prst="roundRect">
            <a:avLst>
              <a:gd name="adj" fmla="val 8000"/>
            </a:avLst>
          </a:prstGeom>
          <a:solidFill>
            <a:srgbClr val="3874C7"/>
          </a:solidFill>
          <a:ln>
            <a:solidFill>
              <a:srgbClr val="387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258568"/>
            <a:ext cx="1463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3874C7"/>
                </a:solidFill>
                <a:latin typeface="Aptos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70048"/>
            <a:ext cx="1481328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E2B41"/>
                </a:solidFill>
                <a:latin typeface="Aptos"/>
              </a:rPr>
              <a:t>Translate assignment requirements into an IT support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93008"/>
            <a:ext cx="144475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64748C"/>
                </a:solidFill>
                <a:latin typeface="Aptos"/>
              </a:rPr>
              <a:t>AI-assisted</a:t>
            </a:r>
          </a:p>
        </p:txBody>
      </p:sp>
      <p:sp>
        <p:nvSpPr>
          <p:cNvPr id="10" name="Chevron 9"/>
          <p:cNvSpPr/>
          <p:nvPr/>
        </p:nvSpPr>
        <p:spPr>
          <a:xfrm>
            <a:off x="2688336" y="2724912"/>
            <a:ext cx="228600" cy="274320"/>
          </a:xfrm>
          <a:prstGeom prst="chevron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61488" y="2816352"/>
            <a:ext cx="64008" cy="1371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92743"/>
                </a:solidFill>
                <a:latin typeface="Aptos"/>
              </a:rP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1956816"/>
            <a:ext cx="1883664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53512" y="1956816"/>
            <a:ext cx="1883664" cy="100584"/>
          </a:xfrm>
          <a:prstGeom prst="roundRect">
            <a:avLst>
              <a:gd name="adj" fmla="val 8000"/>
            </a:avLst>
          </a:prstGeom>
          <a:solidFill>
            <a:srgbClr val="0B8F83"/>
          </a:solidFill>
          <a:ln>
            <a:solidFill>
              <a:srgbClr val="0B8F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36392" y="2258568"/>
            <a:ext cx="1463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8F83"/>
                </a:solidFill>
                <a:latin typeface="Aptos"/>
              </a:rPr>
              <a:t>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2670048"/>
            <a:ext cx="1481328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E2B41"/>
                </a:solidFill>
                <a:latin typeface="Aptos"/>
              </a:rPr>
              <a:t>Generate and refine HTML, CSS, and JavaScript UI components.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6392" y="3493008"/>
            <a:ext cx="144475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64748C"/>
                </a:solidFill>
                <a:latin typeface="Aptos"/>
              </a:rPr>
              <a:t>AI-assisted</a:t>
            </a:r>
          </a:p>
        </p:txBody>
      </p:sp>
      <p:sp>
        <p:nvSpPr>
          <p:cNvPr id="17" name="Chevron 16"/>
          <p:cNvSpPr/>
          <p:nvPr/>
        </p:nvSpPr>
        <p:spPr>
          <a:xfrm>
            <a:off x="4928616" y="2724912"/>
            <a:ext cx="228600" cy="274320"/>
          </a:xfrm>
          <a:prstGeom prst="chevron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01768" y="2816352"/>
            <a:ext cx="64008" cy="1371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92743"/>
                </a:solidFill>
                <a:latin typeface="Apto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1956816"/>
            <a:ext cx="1883664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93792" y="1956816"/>
            <a:ext cx="1883664" cy="100584"/>
          </a:xfrm>
          <a:prstGeom prst="roundRect">
            <a:avLst>
              <a:gd name="adj" fmla="val 8000"/>
            </a:avLst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76672" y="2258568"/>
            <a:ext cx="1463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98515"/>
                </a:solidFill>
                <a:latin typeface="Aptos"/>
              </a:rPr>
              <a:t>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2670048"/>
            <a:ext cx="1481328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E2B41"/>
                </a:solidFill>
                <a:latin typeface="Aptos"/>
              </a:rPr>
              <a:t>Encode only the supplied policies, requests, and tickets.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3493008"/>
            <a:ext cx="144475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64748C"/>
                </a:solidFill>
                <a:latin typeface="Aptos"/>
              </a:rPr>
              <a:t>AI-assisted</a:t>
            </a:r>
          </a:p>
        </p:txBody>
      </p:sp>
      <p:sp>
        <p:nvSpPr>
          <p:cNvPr id="24" name="Chevron 23"/>
          <p:cNvSpPr/>
          <p:nvPr/>
        </p:nvSpPr>
        <p:spPr>
          <a:xfrm>
            <a:off x="7168896" y="2724912"/>
            <a:ext cx="228600" cy="274320"/>
          </a:xfrm>
          <a:prstGeom prst="chevron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42048" y="2816352"/>
            <a:ext cx="64008" cy="1371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92743"/>
                </a:solidFill>
                <a:latin typeface="Aptos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34072" y="1956816"/>
            <a:ext cx="1883664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34072" y="1956816"/>
            <a:ext cx="1883664" cy="100584"/>
          </a:xfrm>
          <a:prstGeom prst="roundRect">
            <a:avLst>
              <a:gd name="adj" fmla="val 8000"/>
            </a:avLst>
          </a:prstGeom>
          <a:solidFill>
            <a:srgbClr val="C34C4C"/>
          </a:solidFill>
          <a:ln>
            <a:solidFill>
              <a:srgbClr val="C3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16952" y="2258568"/>
            <a:ext cx="1463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34C4C"/>
                </a:solidFill>
                <a:latin typeface="Aptos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2670048"/>
            <a:ext cx="1481328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E2B41"/>
                </a:solidFill>
                <a:latin typeface="Aptos"/>
              </a:rPr>
              <a:t>Check syntax, browser interactions, filtering, and source visibility.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2" y="3493008"/>
            <a:ext cx="144475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64748C"/>
                </a:solidFill>
                <a:latin typeface="Aptos"/>
              </a:rPr>
              <a:t>AI-assisted</a:t>
            </a:r>
          </a:p>
        </p:txBody>
      </p:sp>
      <p:sp>
        <p:nvSpPr>
          <p:cNvPr id="31" name="Chevron 30"/>
          <p:cNvSpPr/>
          <p:nvPr/>
        </p:nvSpPr>
        <p:spPr>
          <a:xfrm>
            <a:off x="9409176" y="2724912"/>
            <a:ext cx="228600" cy="274320"/>
          </a:xfrm>
          <a:prstGeom prst="chevron">
            <a:avLst/>
          </a:prstGeom>
          <a:solidFill>
            <a:srgbClr val="DCE2EA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82328" y="2816352"/>
            <a:ext cx="64008" cy="1371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192743"/>
                </a:solidFill>
                <a:latin typeface="Aptos"/>
              </a:rP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74352" y="1956816"/>
            <a:ext cx="1883664" cy="1901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674352" y="1956816"/>
            <a:ext cx="1883664" cy="100584"/>
          </a:xfrm>
          <a:prstGeom prst="roundRect">
            <a:avLst>
              <a:gd name="adj" fmla="val 8000"/>
            </a:avLst>
          </a:prstGeom>
          <a:solidFill>
            <a:srgbClr val="192743"/>
          </a:solidFill>
          <a:ln>
            <a:solidFill>
              <a:srgbClr val="19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57232" y="2258568"/>
            <a:ext cx="1463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92743"/>
                </a:solidFill>
                <a:latin typeface="Aptos"/>
              </a:rPr>
              <a:t>DOCUMENT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2670048"/>
            <a:ext cx="1481328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E2B41"/>
                </a:solidFill>
                <a:latin typeface="Aptos"/>
              </a:rPr>
              <a:t>Produce README, review checklist, and presentation content.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7232" y="3493008"/>
            <a:ext cx="144475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0" i="1">
                <a:solidFill>
                  <a:srgbClr val="64748C"/>
                </a:solidFill>
                <a:latin typeface="Aptos"/>
              </a:rPr>
              <a:t>AI-assisted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343400"/>
            <a:ext cx="10698480" cy="1042415"/>
          </a:xfrm>
          <a:prstGeom prst="roundRect">
            <a:avLst>
              <a:gd name="adj" fmla="val 8000"/>
            </a:avLst>
          </a:prstGeom>
          <a:solidFill>
            <a:srgbClr val="192743"/>
          </a:solidFill>
          <a:ln>
            <a:solidFill>
              <a:srgbClr val="19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4128" y="4572000"/>
            <a:ext cx="1536192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C98515"/>
                </a:solidFill>
                <a:latin typeface="Aptos"/>
              </a:rPr>
              <a:t>IMPORTANT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78608" y="4498848"/>
            <a:ext cx="8183879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AI assisted the development process. The submitted prototype does not call an external AI model at runtime or invent policy answers.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5742432"/>
            <a:ext cx="102412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64748C"/>
                </a:solidFill>
                <a:latin typeface="Aptos"/>
              </a:rPr>
              <a:t>Tools used: GitHub Copilot for coding, debugging, UX iteration, documentation, and presentation drafting.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21792" y="6528816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VERIDIAN SERVICE DESK  /  ASSIGNMENT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48C"/>
                </a:solidFill>
                <a:latin typeface="Apto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658368"/>
            <a:ext cx="7315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8F83"/>
                </a:solidFill>
                <a:latin typeface="Aptos"/>
              </a:rPr>
              <a:t>Submission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051560"/>
            <a:ext cx="8503920" cy="6949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 Display"/>
              </a:rPr>
              <a:t>A support agent that
knows when to 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6400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C3D0E3"/>
                </a:solidFill>
                <a:latin typeface="Aptos"/>
              </a:rPr>
              <a:t>The result is a reviewable IT support experience where routine work is faster, risky decisions are visible, and every answer can point back to its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822191"/>
            <a:ext cx="1353312" cy="841248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42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3968496"/>
            <a:ext cx="1170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0B8F83"/>
                </a:solidFill>
                <a:latin typeface="Aptos Display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4297680"/>
            <a:ext cx="117043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0" i="0">
                <a:solidFill>
                  <a:srgbClr val="BECCE1"/>
                </a:solidFill>
                <a:latin typeface="Aptos"/>
              </a:rPr>
              <a:t>employee requests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3822191"/>
            <a:ext cx="1353312" cy="841248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42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3968496"/>
            <a:ext cx="1170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C98515"/>
                </a:solidFill>
                <a:latin typeface="Aptos Display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4297680"/>
            <a:ext cx="117043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0" i="0">
                <a:solidFill>
                  <a:srgbClr val="BECCE1"/>
                </a:solidFill>
                <a:latin typeface="Aptos"/>
              </a:rPr>
              <a:t>policy 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3632" y="3822191"/>
            <a:ext cx="1353312" cy="841248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42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05072" y="3968496"/>
            <a:ext cx="1170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3874C7"/>
                </a:solidFill>
                <a:latin typeface="Aptos Display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4297680"/>
            <a:ext cx="117043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0" i="0">
                <a:solidFill>
                  <a:srgbClr val="BECCE1"/>
                </a:solidFill>
                <a:latin typeface="Aptos"/>
              </a:rPr>
              <a:t>ticket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95544" y="3822191"/>
            <a:ext cx="1353312" cy="841248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42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86983" y="3968496"/>
            <a:ext cx="1170432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C34C4C"/>
                </a:solidFill>
                <a:latin typeface="Aptos Display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6983" y="4297680"/>
            <a:ext cx="1170432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800" b="0" i="0">
                <a:solidFill>
                  <a:srgbClr val="BECCE1"/>
                </a:solidFill>
                <a:latin typeface="Aptos"/>
              </a:rPr>
              <a:t>source-visible decisions</a:t>
            </a:r>
          </a:p>
        </p:txBody>
      </p:sp>
      <p:sp>
        <p:nvSpPr>
          <p:cNvPr id="18" name="TextBox 17">
            <a:hlinkClick r:id="rId2"/>
          </p:cNvPr>
          <p:cNvSpPr txBox="1"/>
          <p:nvPr/>
        </p:nvSpPr>
        <p:spPr>
          <a:xfrm>
            <a:off x="722376" y="5095375"/>
            <a:ext cx="4572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 dirty="0">
                <a:solidFill>
                  <a:srgbClr val="AEDCD3"/>
                </a:solidFill>
                <a:latin typeface="Aptos"/>
              </a:rPr>
              <a:t>GitHub repository  →  github.com/aryansengar007/veridian-internal-service-agent</a:t>
            </a:r>
          </a:p>
        </p:txBody>
      </p:sp>
      <p:sp>
        <p:nvSpPr>
          <p:cNvPr id="19" name="TextBox 18">
            <a:hlinkClick r:id="rId3"/>
          </p:cNvPr>
          <p:cNvSpPr txBox="1"/>
          <p:nvPr/>
        </p:nvSpPr>
        <p:spPr>
          <a:xfrm>
            <a:off x="694944" y="5532119"/>
            <a:ext cx="58815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sz="1000" b="1" i="0" dirty="0">
                <a:solidFill>
                  <a:srgbClr val="F4CD85"/>
                </a:solidFill>
                <a:latin typeface="Aptos"/>
              </a:rPr>
              <a:t>Demo video  →</a:t>
            </a:r>
            <a:r>
              <a:rPr lang="en-US" sz="1000" b="1" i="0" dirty="0">
                <a:solidFill>
                  <a:srgbClr val="F4CD85"/>
                </a:solidFill>
                <a:latin typeface="Aptos"/>
              </a:rPr>
              <a:t> </a:t>
            </a:r>
            <a:r>
              <a:rPr lang="en-IN" sz="1000" b="1" dirty="0">
                <a:solidFill>
                  <a:srgbClr val="F4CD85"/>
                </a:solidFill>
                <a:latin typeface="Aptos"/>
              </a:rPr>
              <a:t>https://drive.google.com/file/d/1J224lGW6l_4Y5_zasfxV7_5gEhKKd8z6/view?usp=sharing</a:t>
            </a:r>
            <a:endParaRPr sz="1000" b="1" i="0" dirty="0">
              <a:solidFill>
                <a:srgbClr val="F4CD85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47888" y="1078992"/>
            <a:ext cx="2606040" cy="4526280"/>
          </a:xfrm>
          <a:prstGeom prst="roundRect">
            <a:avLst>
              <a:gd name="adj" fmla="val 8000"/>
            </a:avLst>
          </a:prstGeom>
          <a:solidFill>
            <a:srgbClr val="1F304E"/>
          </a:solidFill>
          <a:ln>
            <a:solidFill>
              <a:srgbClr val="425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13648" y="1463040"/>
            <a:ext cx="1874519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A4B5CF"/>
                </a:solidFill>
                <a:latin typeface="Aptos"/>
              </a:rPr>
              <a:t>NEXT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1883664"/>
            <a:ext cx="1920240" cy="6035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ptos Display"/>
              </a:rPr>
              <a:t>From prototype
to production</a:t>
            </a:r>
          </a:p>
        </p:txBody>
      </p:sp>
      <p:sp>
        <p:nvSpPr>
          <p:cNvPr id="23" name="Oval 22"/>
          <p:cNvSpPr/>
          <p:nvPr/>
        </p:nvSpPr>
        <p:spPr>
          <a:xfrm>
            <a:off x="8622792" y="2999232"/>
            <a:ext cx="91440" cy="91440"/>
          </a:xfrm>
          <a:prstGeom prst="ellipse">
            <a:avLst/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05672" y="2926080"/>
            <a:ext cx="1719072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DD8E8"/>
                </a:solidFill>
                <a:latin typeface="Aptos"/>
              </a:rPr>
              <a:t>Authentication</a:t>
            </a:r>
          </a:p>
        </p:txBody>
      </p:sp>
      <p:sp>
        <p:nvSpPr>
          <p:cNvPr id="25" name="Oval 24"/>
          <p:cNvSpPr/>
          <p:nvPr/>
        </p:nvSpPr>
        <p:spPr>
          <a:xfrm>
            <a:off x="8622792" y="3337560"/>
            <a:ext cx="91440" cy="91440"/>
          </a:xfrm>
          <a:prstGeom prst="ellipse">
            <a:avLst/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05672" y="3264408"/>
            <a:ext cx="1719072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DD8E8"/>
                </a:solidFill>
                <a:latin typeface="Aptos"/>
              </a:rPr>
              <a:t>Persistent tickets</a:t>
            </a:r>
          </a:p>
        </p:txBody>
      </p:sp>
      <p:sp>
        <p:nvSpPr>
          <p:cNvPr id="27" name="Oval 26"/>
          <p:cNvSpPr/>
          <p:nvPr/>
        </p:nvSpPr>
        <p:spPr>
          <a:xfrm>
            <a:off x="8622792" y="3675888"/>
            <a:ext cx="91440" cy="91440"/>
          </a:xfrm>
          <a:prstGeom prst="ellipse">
            <a:avLst/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05672" y="3602736"/>
            <a:ext cx="1719072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DD8E8"/>
                </a:solidFill>
                <a:latin typeface="Aptos"/>
              </a:rPr>
              <a:t>Role-based approvals</a:t>
            </a:r>
          </a:p>
        </p:txBody>
      </p:sp>
      <p:sp>
        <p:nvSpPr>
          <p:cNvPr id="29" name="Oval 28"/>
          <p:cNvSpPr/>
          <p:nvPr/>
        </p:nvSpPr>
        <p:spPr>
          <a:xfrm>
            <a:off x="8622792" y="4014216"/>
            <a:ext cx="91440" cy="91440"/>
          </a:xfrm>
          <a:prstGeom prst="ellipse">
            <a:avLst/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05672" y="3941064"/>
            <a:ext cx="1719072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DD8E8"/>
                </a:solidFill>
                <a:latin typeface="Aptos"/>
              </a:rPr>
              <a:t>ITSM integration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622792" y="4352544"/>
            <a:ext cx="91440" cy="91440"/>
          </a:xfrm>
          <a:prstGeom prst="ellipse">
            <a:avLst/>
          </a:prstGeom>
          <a:solidFill>
            <a:srgbClr val="C98515"/>
          </a:solidFill>
          <a:ln>
            <a:solidFill>
              <a:srgbClr val="C98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05672" y="4279392"/>
            <a:ext cx="1719072" cy="3383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CDD8E8"/>
                </a:solidFill>
                <a:latin typeface="Aptos"/>
              </a:rPr>
              <a:t>Server-side 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5230368"/>
            <a:ext cx="1856231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B8F83"/>
                </a:solidFill>
                <a:latin typeface="Aptos"/>
              </a:rPr>
              <a:t>Thank you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016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1792" y="6528816"/>
            <a:ext cx="45720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48C"/>
                </a:solidFill>
                <a:latin typeface="Aptos"/>
              </a:rPr>
              <a:t>VERIDIAN SERVICE DESK  /  ASSIGNMENT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48C"/>
                </a:solidFill>
                <a:latin typeface="Aptos"/>
              </a:rPr>
              <a:t>10 / 10</a:t>
            </a:r>
          </a:p>
        </p:txBody>
      </p:sp>
      <p:sp>
        <p:nvSpPr>
          <p:cNvPr id="38" name="TextBox 37">
            <a:hlinkClick r:id="rId2"/>
            <a:extLst>
              <a:ext uri="{FF2B5EF4-FFF2-40B4-BE49-F238E27FC236}">
                <a16:creationId xmlns:a16="http://schemas.microsoft.com/office/drawing/2014/main" id="{E1C4A230-5BC2-8CF9-A368-BE1E09F53640}"/>
              </a:ext>
            </a:extLst>
          </p:cNvPr>
          <p:cNvSpPr txBox="1"/>
          <p:nvPr/>
        </p:nvSpPr>
        <p:spPr>
          <a:xfrm>
            <a:off x="694944" y="5932164"/>
            <a:ext cx="45720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US" sz="1000" b="1" dirty="0">
                <a:solidFill>
                  <a:srgbClr val="AEDCD3"/>
                </a:solidFill>
                <a:latin typeface="Aptos"/>
              </a:rPr>
              <a:t>Live Link</a:t>
            </a:r>
            <a:r>
              <a:rPr sz="1000" b="1" i="0" dirty="0">
                <a:solidFill>
                  <a:srgbClr val="AEDCD3"/>
                </a:solidFill>
                <a:latin typeface="Aptos"/>
              </a:rPr>
              <a:t>  →  </a:t>
            </a:r>
            <a:r>
              <a:rPr lang="en-IN" sz="1000" b="1" dirty="0">
                <a:solidFill>
                  <a:srgbClr val="AEDCD3"/>
                </a:solidFill>
                <a:latin typeface="Aptos"/>
              </a:rPr>
              <a:t>https://veridian-internal-service-agent.netlify.app/</a:t>
            </a:r>
            <a:endParaRPr sz="1000" b="1" i="0" dirty="0">
              <a:solidFill>
                <a:srgbClr val="AEDCD3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1157</Words>
  <Application>Microsoft Office PowerPoint</Application>
  <PresentationFormat>Widescreen</PresentationFormat>
  <Paragraphs>253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 Sengar</cp:lastModifiedBy>
  <cp:revision>2</cp:revision>
  <dcterms:created xsi:type="dcterms:W3CDTF">2013-01-27T09:14:16Z</dcterms:created>
  <dcterms:modified xsi:type="dcterms:W3CDTF">2026-09-17T15:21:18Z</dcterms:modified>
  <cp:category/>
</cp:coreProperties>
</file>